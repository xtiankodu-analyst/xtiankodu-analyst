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6576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THREAT INTELLIGENCE REPORT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77724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FIN6 Threat Assessment: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Lobster Canada</a:t>
            </a:r>
            <a:endParaRPr lang="en-US" sz="4000" dirty="0"/>
          </a:p>
          <a:p>
            <a:pPr indent="0" marL="0">
              <a:buNone/>
            </a:pPr>
            <a:r>
              <a:rPr lang="en-US" sz="22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redlobster.ca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365760" y="4114800"/>
            <a:ext cx="7498080" cy="2194560"/>
          </a:xfrm>
          <a:prstGeom prst="rect">
            <a:avLst/>
          </a:prstGeom>
          <a:solidFill>
            <a:srgbClr val="1C2B3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206240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Lobster Canada · redlobster.ca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4590288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Actor: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FIN6 (G0037) — Skeleton Spider · Magecart Group 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4974336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Analyst: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Christian Kodu — Cyber Security Analyst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5358384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Authorised Use Only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5742432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686800" y="914400"/>
            <a:ext cx="3108960" cy="5303520"/>
          </a:xfrm>
          <a:prstGeom prst="rect">
            <a:avLst/>
          </a:prstGeom>
          <a:solidFill>
            <a:srgbClr val="1C2B3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78240" y="10972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LEVEL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052560" y="1600200"/>
            <a:ext cx="2377440" cy="6858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52560" y="160020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778240" y="251460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Compromise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0515600" y="2560320"/>
            <a:ext cx="1005840" cy="32918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0" y="2560320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778240" y="315468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Exfiltration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0515600" y="3200400"/>
            <a:ext cx="1005840" cy="32918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0" y="3200400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778240" y="379476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Risk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0515600" y="3840480"/>
            <a:ext cx="1005840" cy="329184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515600" y="3840480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778240" y="443484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Ransomware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0515600" y="4480560"/>
            <a:ext cx="1005840" cy="329184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515600" y="4480560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778240" y="507492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Skimming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0515600" y="5120640"/>
            <a:ext cx="1005840" cy="329184"/>
          </a:xfrm>
          <a:prstGeom prst="rect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515600" y="5120640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65760" y="6492240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MITRE ATT&amp;CK · FireEye FIN6 Report · WHOIS · LinkedIn OSINT · US Bankruptcy Court · Google Dorking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|  PASSIVE RECONNAISSANCE — redlobster.ca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WHOIS · LinkedIn OSINT · Google Dorking · Public Records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374904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1B4F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51560"/>
            <a:ext cx="3749040" cy="384048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078992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WHOIS / DOMAIN INTEL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1435608"/>
            <a:ext cx="3749040" cy="530352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146304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664208" y="146304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2000-11-21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199339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Expires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664208" y="199339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2026-12-01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74320" y="2496312"/>
            <a:ext cx="3749040" cy="530352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2523744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664208" y="252374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2026-01-15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47472" y="3054096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664208" y="305409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GoDaddy Canada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74320" y="3557016"/>
            <a:ext cx="3749040" cy="530352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358444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Email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664208" y="358444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ssladmin@redlobster.com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47472" y="411480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Phone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664208" y="41148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+1.4077349000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74320" y="4617720"/>
            <a:ext cx="3749040" cy="530352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" y="464515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Servers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664208" y="464515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ns05/06.domaincontrol.com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47472" y="5175504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Registrant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664208" y="517550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Lobster Hospitality LLC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450 S Orange Ave, Orlando FL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251960" y="1051560"/>
            <a:ext cx="37490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C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251960" y="1051560"/>
            <a:ext cx="3749040" cy="38404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97680" y="1078992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OSINT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343400" y="1508760"/>
            <a:ext cx="35661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2–10 employees on LLC entity (lean team, limited security headcount)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317 associated network members — attacker name pool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HR: Darlene Savidon (24 yrs) — spearphishing target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Ops: David Harling (15 yrs) — BEC pretexting target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visible CISO or dedicated security role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251960" y="3657600"/>
            <a:ext cx="37490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251960" y="3657600"/>
            <a:ext cx="3749040" cy="38404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297680" y="3685032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DORKING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343400" y="41148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5A5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Query: "www.redlobster.ca" "pdf" "Employees+names+emails"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4343400" y="4480560"/>
            <a:ext cx="3566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public credential PDF found — positive finding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executives surfaced in &lt;5 minutes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name (Damola Adamolekun) in AI overview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Alternate dorks (filetype:pdf, intitle:index.of) not yet run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8183880" y="1051560"/>
            <a:ext cx="3749040" cy="5303520"/>
          </a:xfrm>
          <a:prstGeom prst="rect">
            <a:avLst/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8183880" y="1051560"/>
            <a:ext cx="3749040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229600" y="1078992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TELLS A THREAT ACTOR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8275320" y="1508760"/>
            <a:ext cx="356616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email exposed: </a:t>
            </a:r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ssladmin@redlobster.com is a direct spearphishing vector requiring zero additional effort.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8321040" y="2194560"/>
            <a:ext cx="3474720" cy="0"/>
          </a:xfrm>
          <a:prstGeom prst="line">
            <a:avLst/>
          </a:prstGeom>
          <a:noFill/>
          <a:ln w="12700">
            <a:solidFill>
              <a:srgbClr val="F1948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275320" y="2276856"/>
            <a:ext cx="356616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GoDaddy account: </a:t>
            </a:r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GoDaddy credentials are regularly sold in underground markets. Account takeover = DNS hijack.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8321040" y="2962656"/>
            <a:ext cx="3474720" cy="0"/>
          </a:xfrm>
          <a:prstGeom prst="line">
            <a:avLst/>
          </a:prstGeom>
          <a:noFill/>
          <a:ln w="12700">
            <a:solidFill>
              <a:srgbClr val="F1948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275320" y="3044952"/>
            <a:ext cx="356616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staff visible: </a:t>
            </a:r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+ Ops names enable highly convincing pretexting and BEC campaigns.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8321040" y="3730752"/>
            <a:ext cx="3474720" cy="0"/>
          </a:xfrm>
          <a:prstGeom prst="line">
            <a:avLst/>
          </a:prstGeom>
          <a:noFill/>
          <a:ln w="12700">
            <a:solidFill>
              <a:srgbClr val="F1948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275320" y="3813048"/>
            <a:ext cx="356616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2–10 employees: </a:t>
            </a:r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Post-bankruptcy skeleton team means no dedicated security monitoring.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8321040" y="4498848"/>
            <a:ext cx="3474720" cy="0"/>
          </a:xfrm>
          <a:prstGeom prst="line">
            <a:avLst/>
          </a:prstGeom>
          <a:noFill/>
          <a:ln w="12700">
            <a:solidFill>
              <a:srgbClr val="F1948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275320" y="4581144"/>
            <a:ext cx="356616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11 filing: </a:t>
            </a:r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budgets cut during restructuring. Patch cycles delayed. Security tools may lapse.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8321040" y="5266944"/>
            <a:ext cx="3474720" cy="0"/>
          </a:xfrm>
          <a:prstGeom prst="line">
            <a:avLst/>
          </a:prstGeom>
          <a:noFill/>
          <a:ln w="12700">
            <a:solidFill>
              <a:srgbClr val="F1948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275320" y="5349240"/>
            <a:ext cx="356616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violations: </a:t>
            </a:r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compliance failures signal weak procedural culture — security awareness is likely poor.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Lobster CTI Report | Christian Kodu | April 2026 |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|  THREAT ACTOR PROFILE: FIN6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 ATT&amp;CK G0037 · Skeleton Spider · ITG08 · Magecart Group 6 · TAAL · Camouflage Tempest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4572000" cy="5303520"/>
          </a:xfrm>
          <a:prstGeom prst="rect">
            <a:avLst/>
          </a:prstGeom>
          <a:solidFill>
            <a:srgbClr val="1C2B3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051560"/>
            <a:ext cx="4572000" cy="36576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078992"/>
            <a:ext cx="4480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 OVERVIEW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1463040"/>
            <a:ext cx="4572000" cy="594360"/>
          </a:xfrm>
          <a:prstGeom prst="rect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50876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65760" y="1755648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— Payment Card Theft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2103120"/>
            <a:ext cx="4572000" cy="594360"/>
          </a:xfrm>
          <a:prstGeom prst="rect">
            <a:avLst/>
          </a:prstGeom>
          <a:solidFill>
            <a:srgbClr val="1F3347"/>
          </a:solidFill>
          <a:ln w="12700">
            <a:solidFill>
              <a:srgbClr val="1F334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14884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Observed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65760" y="2395728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~2011 (active through 2024+)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2743200"/>
            <a:ext cx="4572000" cy="594360"/>
          </a:xfrm>
          <a:prstGeom prst="rect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8892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Targets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65760" y="3035808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Hospitality · Retail · Restaurant POS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3383280"/>
            <a:ext cx="4572000" cy="594360"/>
          </a:xfrm>
          <a:prstGeom prst="rect">
            <a:avLst/>
          </a:prstGeom>
          <a:solidFill>
            <a:srgbClr val="1F3347"/>
          </a:solidFill>
          <a:ln w="12700">
            <a:solidFill>
              <a:srgbClr val="1F334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42900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Style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65760" y="3675888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Multi-stage, highly planned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4023360"/>
            <a:ext cx="4572000" cy="594360"/>
          </a:xfrm>
          <a:prstGeom prst="rect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06908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Monetisation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65760" y="4315968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Underground card shops (dump shops)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4663440"/>
            <a:ext cx="4572000" cy="594360"/>
          </a:xfrm>
          <a:prstGeom prst="rect">
            <a:avLst/>
          </a:prstGeom>
          <a:solidFill>
            <a:srgbClr val="1F3347"/>
          </a:solidFill>
          <a:ln w="12700">
            <a:solidFill>
              <a:srgbClr val="1F334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70916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65760" y="4956048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20M cards per breach; ~$400M potential value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120640" y="1051560"/>
            <a:ext cx="6766560" cy="2743200"/>
          </a:xfrm>
          <a:prstGeom prst="rect">
            <a:avLst/>
          </a:prstGeom>
          <a:solidFill>
            <a:srgbClr val="1C2B3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120640" y="1051560"/>
            <a:ext cx="6766560" cy="3657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66360" y="1078992"/>
            <a:ext cx="6675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MALWARE ARSENAL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120640" y="1463040"/>
            <a:ext cx="6766560" cy="502920"/>
          </a:xfrm>
          <a:prstGeom prst="rect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12080" y="149047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TRINITY / FrameworkPOS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150608" y="1508760"/>
            <a:ext cx="1188720" cy="292608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50608" y="150876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Malware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8394192" y="1490472"/>
            <a:ext cx="3429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process memory for Track 1/2 data. XOR encodes. Deployed to ~2,000 systems.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5120640" y="2011680"/>
            <a:ext cx="6766560" cy="502920"/>
          </a:xfrm>
          <a:prstGeom prst="rect">
            <a:avLst/>
          </a:prstGeom>
          <a:solidFill>
            <a:srgbClr val="1F3347"/>
          </a:solidFill>
          <a:ln w="12700">
            <a:solidFill>
              <a:srgbClr val="1F334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212080" y="203911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GRABNEW / Neverquest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7150608" y="2057400"/>
            <a:ext cx="1188720" cy="292608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50608" y="205740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Stealer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8394192" y="2039112"/>
            <a:ext cx="3429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Form-grabbing backdoor. Spread via spam. Harvests credentials for initial access.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5120640" y="2560320"/>
            <a:ext cx="6766560" cy="502920"/>
          </a:xfrm>
          <a:prstGeom prst="rect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212080" y="258775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HARDTACK / SHIPBREAD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7150608" y="2606040"/>
            <a:ext cx="1188720" cy="292608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150608" y="260604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Backdoors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8394192" y="2587752"/>
            <a:ext cx="3429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Metasploit-based. Connect to CnC. Persist via registry run keys / scheduled tasks.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5120640" y="3108960"/>
            <a:ext cx="6766560" cy="502920"/>
          </a:xfrm>
          <a:prstGeom prst="rect">
            <a:avLst/>
          </a:prstGeom>
          <a:solidFill>
            <a:srgbClr val="1F3347"/>
          </a:solidFill>
          <a:ln w="12700">
            <a:solidFill>
              <a:srgbClr val="1F334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212080" y="313639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Magecart JS Skimmer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150608" y="3154680"/>
            <a:ext cx="1188720" cy="292608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150608" y="315468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Skimmer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8394192" y="3136392"/>
            <a:ext cx="3429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Injected into online ordering checkout pages to steal card data browser-side.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5120640" y="3931920"/>
            <a:ext cx="6766560" cy="2423160"/>
          </a:xfrm>
          <a:prstGeom prst="rect">
            <a:avLst/>
          </a:prstGeom>
          <a:solidFill>
            <a:srgbClr val="1C2B3A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120640" y="3931920"/>
            <a:ext cx="6766560" cy="36576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166360" y="3959352"/>
            <a:ext cx="6675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MITRE ATT&amp;CK TTPs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5166360" y="4389120"/>
            <a:ext cx="594360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166360" y="438912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T1566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5806440" y="438912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Access —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/ Credential Theft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5166360" y="4937760"/>
            <a:ext cx="594360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166360" y="493776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T1119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5806440" y="493776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—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Collection (POS script)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5166360" y="5486400"/>
            <a:ext cx="594360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166360" y="548640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T1053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5806440" y="548640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 —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Task — TRINITY deployment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8229600" y="4389120"/>
            <a:ext cx="594360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229600" y="438912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T1548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8869680" y="438912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 Esc. —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 exploitation → kernel access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8229600" y="4937760"/>
            <a:ext cx="594360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229600" y="493776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T1572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8869680" y="493776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 —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Tunneling via Plink SSH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8229600" y="5486400"/>
            <a:ext cx="594360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8229600" y="548640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T1048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8869680" y="548640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Exfiltration —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FTP to external CnC servers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Lobster CTI Report | Christian Kodu | April 2026 |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|  ATTACK SIMULATION — FIN6 vs. redlobster.ca KILL CHAIN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502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 to MITRE ATT&amp;CK Enterprise | Grounded in OSINT recon findings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56032" y="1051560"/>
            <a:ext cx="374904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051560"/>
            <a:ext cx="3749040" cy="502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9184" y="1124712"/>
            <a:ext cx="347472" cy="3474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" y="11247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1520" y="11430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ACCESS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600200"/>
            <a:ext cx="1280160" cy="228600"/>
          </a:xfrm>
          <a:prstGeom prst="rect">
            <a:avLst/>
          </a:prstGeom>
          <a:solidFill>
            <a:srgbClr val="C0392B">
              <a:alpha val="20000"/>
            </a:srgbClr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60020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T1566 · T1078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393192" y="1920240"/>
            <a:ext cx="3520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WHOIS exposes ssladmin@redlobster.com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GoDaddy pretext phishing email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GRABNEW credential harvesting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Or: buy stolen creds underground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005072" y="2308860"/>
            <a:ext cx="201168" cy="0"/>
          </a:xfrm>
          <a:prstGeom prst="line">
            <a:avLst/>
          </a:prstGeom>
          <a:noFill/>
          <a:ln w="12700">
            <a:solidFill>
              <a:srgbClr val="95A5A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33672" y="1051560"/>
            <a:ext cx="374904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B4F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233672" y="1051560"/>
            <a:ext cx="3749040" cy="50292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06824" y="1124712"/>
            <a:ext cx="347472" cy="3474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06824" y="11247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09160" y="11430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343400" y="1600200"/>
            <a:ext cx="1280160" cy="228600"/>
          </a:xfrm>
          <a:prstGeom prst="rect">
            <a:avLst/>
          </a:prstGeom>
          <a:solidFill>
            <a:srgbClr val="1B4F8A">
              <a:alpha val="20000"/>
            </a:srgbClr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43400" y="160020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T1059 (PowerShell)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4370832" y="1920240"/>
            <a:ext cx="3520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VPN/RDP login with stolen creds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Metasploit PowerShell shellcode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HARDTACK/SHIPBREAD backdoors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 CnC connection via HTTPS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982712" y="2308860"/>
            <a:ext cx="201168" cy="0"/>
          </a:xfrm>
          <a:prstGeom prst="line">
            <a:avLst/>
          </a:prstGeom>
          <a:noFill/>
          <a:ln w="12700">
            <a:solidFill>
              <a:srgbClr val="95A5A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11312" y="1051560"/>
            <a:ext cx="374904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211312" y="1051560"/>
            <a:ext cx="3749040" cy="5029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84464" y="1124712"/>
            <a:ext cx="347472" cy="3474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84464" y="11247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686800" y="11430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321040" y="1600200"/>
            <a:ext cx="1280160" cy="228600"/>
          </a:xfrm>
          <a:prstGeom prst="rect">
            <a:avLst/>
          </a:prstGeom>
          <a:solidFill>
            <a:srgbClr val="E67E22">
              <a:alpha val="20000"/>
            </a:srgbClr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21040" y="160020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T1053 · T1547.001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8348472" y="1920240"/>
            <a:ext cx="3520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 Run Keys + Scheduled Tasks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Credentials Editor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ntds.dit dump (AD hashes)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 exploitation if unpatched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56032" y="3840480"/>
            <a:ext cx="374904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6C348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56032" y="3840480"/>
            <a:ext cx="3749040" cy="50292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9184" y="3913632"/>
            <a:ext cx="347472" cy="3474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9184" y="391363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31520" y="39319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LATERAL MOVEMENT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65760" y="4389120"/>
            <a:ext cx="1280160" cy="228600"/>
          </a:xfrm>
          <a:prstGeom prst="rect">
            <a:avLst/>
          </a:prstGeom>
          <a:solidFill>
            <a:srgbClr val="6C3483">
              <a:alpha val="20000"/>
            </a:srgbClr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438912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T1021.001 · T1018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393192" y="4709160"/>
            <a:ext cx="3520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AdFind — enumerate POS systems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osql.exe — map SQL servers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PsExec/RemCom with domain admin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TRINITY deployed to all POS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005072" y="5097780"/>
            <a:ext cx="201168" cy="0"/>
          </a:xfrm>
          <a:prstGeom prst="line">
            <a:avLst/>
          </a:prstGeom>
          <a:noFill/>
          <a:ln w="12700">
            <a:solidFill>
              <a:srgbClr val="95A5A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233672" y="3840480"/>
            <a:ext cx="374904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17A6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233672" y="3840480"/>
            <a:ext cx="3749040" cy="502920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306824" y="3913632"/>
            <a:ext cx="347472" cy="3474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306824" y="391363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7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709160" y="39319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343400" y="4389120"/>
            <a:ext cx="1280160" cy="228600"/>
          </a:xfrm>
          <a:prstGeom prst="rect">
            <a:avLst/>
          </a:prstGeom>
          <a:solidFill>
            <a:srgbClr val="117A65">
              <a:alpha val="20000"/>
            </a:srgbClr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343400" y="438912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17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T1119 · T1005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4370832" y="4709160"/>
            <a:ext cx="3520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TRINITY scans process memory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1/2 data XOR encoded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archived + ZIPped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Staged for exfiltration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7982712" y="5097780"/>
            <a:ext cx="201168" cy="0"/>
          </a:xfrm>
          <a:prstGeom prst="line">
            <a:avLst/>
          </a:prstGeom>
          <a:noFill/>
          <a:ln w="12700">
            <a:solidFill>
              <a:srgbClr val="95A5A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211312" y="3840480"/>
            <a:ext cx="374904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922B2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8211312" y="3840480"/>
            <a:ext cx="3749040" cy="502920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284464" y="3913632"/>
            <a:ext cx="347472" cy="3474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284464" y="391363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22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8686800" y="39319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EXFILTRATION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8321040" y="4389120"/>
            <a:ext cx="1280160" cy="228600"/>
          </a:xfrm>
          <a:prstGeom prst="rect">
            <a:avLst/>
          </a:prstGeom>
          <a:solidFill>
            <a:srgbClr val="922B21">
              <a:alpha val="20000"/>
            </a:srgbClr>
          </a:solidFill>
          <a:ln w="12700">
            <a:solidFill>
              <a:srgbClr val="922B2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321040" y="438912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22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T1048 · T1572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8348472" y="4709160"/>
            <a:ext cx="3520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Plink SSH tunnel to CnC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FTP stolen data to attacker server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Alt: public file-share upload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 sold on underground shop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256032" y="6263640"/>
            <a:ext cx="11649456" cy="320040"/>
          </a:xfrm>
          <a:prstGeom prst="rect">
            <a:avLst/>
          </a:prstGeom>
          <a:solidFill>
            <a:srgbClr val="FEF9E7"/>
          </a:solidFill>
          <a:ln w="12700">
            <a:solidFill>
              <a:srgbClr val="D4AC0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20040" y="6281928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MAGECART VECTOR (Parallel Path): FIN6's Magecart Group 6 alias injects JS skimmers into online ordering checkout pages — if redlobster.ca's ordering platform is vulnerable, card data is stolen browser-side without any POS access required.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Lobster CTI Report | Christian Kodu | April 2026 |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|  MITRE ATT&amp;CK MATRIX — FIN6 TTP MAPPING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502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Framework | FIN6-Confirmed Techniques Highlighted in Red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56032" y="1005840"/>
            <a:ext cx="1115568" cy="5943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1005840"/>
            <a:ext cx="11155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1691640"/>
            <a:ext cx="1115568" cy="868680"/>
          </a:xfrm>
          <a:prstGeom prst="rect">
            <a:avLst/>
          </a:prstGeom>
          <a:solidFill>
            <a:srgbClr val="C0392B"/>
          </a:solidFill>
          <a:ln w="12700">
            <a:solidFill>
              <a:srgbClr val="922B2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6032" y="1691640"/>
            <a:ext cx="111556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T1566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56032" y="2651760"/>
            <a:ext cx="1115568" cy="868680"/>
          </a:xfrm>
          <a:prstGeom prst="rect">
            <a:avLst/>
          </a:prstGeom>
          <a:solidFill>
            <a:srgbClr val="C0392B"/>
          </a:solidFill>
          <a:ln w="12700">
            <a:solidFill>
              <a:srgbClr val="922B2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56032" y="2651760"/>
            <a:ext cx="111556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T1078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Accounts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56032" y="3611880"/>
            <a:ext cx="1115568" cy="868680"/>
          </a:xfrm>
          <a:prstGeom prst="rect">
            <a:avLst/>
          </a:prstGeom>
          <a:solidFill>
            <a:srgbClr val="1C2B3A"/>
          </a:solidFill>
          <a:ln w="12700">
            <a:solidFill>
              <a:srgbClr val="25354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6032" y="4572000"/>
            <a:ext cx="1115568" cy="868680"/>
          </a:xfrm>
          <a:prstGeom prst="rect">
            <a:avLst/>
          </a:prstGeom>
          <a:solidFill>
            <a:srgbClr val="1C2B3A"/>
          </a:solidFill>
          <a:ln w="12700">
            <a:solidFill>
              <a:srgbClr val="25354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426464" y="1005840"/>
            <a:ext cx="1115568" cy="59436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26464" y="1005840"/>
            <a:ext cx="11155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426464" y="1691640"/>
            <a:ext cx="1115568" cy="868680"/>
          </a:xfrm>
          <a:prstGeom prst="rect">
            <a:avLst/>
          </a:prstGeom>
          <a:solidFill>
            <a:srgbClr val="C0392B"/>
          </a:solidFill>
          <a:ln w="12700">
            <a:solidFill>
              <a:srgbClr val="922B2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426464" y="1691640"/>
            <a:ext cx="111556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T1059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PowerShell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1426464" y="2651760"/>
            <a:ext cx="1115568" cy="868680"/>
          </a:xfrm>
          <a:prstGeom prst="rect">
            <a:avLst/>
          </a:prstGeom>
          <a:solidFill>
            <a:srgbClr val="C0392B"/>
          </a:solidFill>
          <a:ln w="12700">
            <a:solidFill>
              <a:srgbClr val="922B2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426464" y="2651760"/>
            <a:ext cx="111556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T1059.002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AppleScript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1426464" y="3611880"/>
            <a:ext cx="1115568" cy="868680"/>
          </a:xfrm>
          <a:prstGeom prst="rect">
            <a:avLst/>
          </a:prstGeom>
          <a:solidFill>
            <a:srgbClr val="1C2B3A"/>
          </a:solidFill>
          <a:ln w="12700">
            <a:solidFill>
              <a:srgbClr val="25354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426464" y="4572000"/>
            <a:ext cx="1115568" cy="868680"/>
          </a:xfrm>
          <a:prstGeom prst="rect">
            <a:avLst/>
          </a:prstGeom>
          <a:solidFill>
            <a:srgbClr val="1C2B3A"/>
          </a:solidFill>
          <a:ln w="12700">
            <a:solidFill>
              <a:srgbClr val="25354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96896" y="1005840"/>
            <a:ext cx="1115568" cy="59436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96896" y="1005840"/>
            <a:ext cx="11155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596896" y="1691640"/>
            <a:ext cx="1115568" cy="868680"/>
          </a:xfrm>
          <a:prstGeom prst="rect">
            <a:avLst/>
          </a:prstGeom>
          <a:solidFill>
            <a:srgbClr val="C0392B"/>
          </a:solidFill>
          <a:ln w="12700">
            <a:solidFill>
              <a:srgbClr val="922B2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596896" y="1691640"/>
            <a:ext cx="111556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T1098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Manip.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2596896" y="2651760"/>
            <a:ext cx="1115568" cy="868680"/>
          </a:xfrm>
          <a:prstGeom prst="rect">
            <a:avLst/>
          </a:prstGeom>
          <a:solidFill>
            <a:srgbClr val="C0392B"/>
          </a:solidFill>
          <a:ln w="12700">
            <a:solidFill>
              <a:srgbClr val="922B2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596896" y="2651760"/>
            <a:ext cx="111556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T1053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Sched. Task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2596896" y="3611880"/>
            <a:ext cx="1115568" cy="868680"/>
          </a:xfrm>
          <a:prstGeom prst="rect">
            <a:avLst/>
          </a:prstGeom>
          <a:solidFill>
            <a:srgbClr val="C0392B"/>
          </a:solidFill>
          <a:ln w="12700">
            <a:solidFill>
              <a:srgbClr val="922B2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596896" y="3611880"/>
            <a:ext cx="111556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T1547.001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Keys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2596896" y="4572000"/>
            <a:ext cx="1115568" cy="868680"/>
          </a:xfrm>
          <a:prstGeom prst="rect">
            <a:avLst/>
          </a:prstGeom>
          <a:solidFill>
            <a:srgbClr val="1C2B3A"/>
          </a:solidFill>
          <a:ln w="12700">
            <a:solidFill>
              <a:srgbClr val="25354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767328" y="1005840"/>
            <a:ext cx="1115568" cy="59436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767328" y="1005840"/>
            <a:ext cx="11155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Priv. Esc.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767328" y="1691640"/>
            <a:ext cx="1115568" cy="868680"/>
          </a:xfrm>
          <a:prstGeom prst="rect">
            <a:avLst/>
          </a:prstGeom>
          <a:solidFill>
            <a:srgbClr val="C0392B"/>
          </a:solidFill>
          <a:ln w="12700">
            <a:solidFill>
              <a:srgbClr val="922B2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3767328" y="1691640"/>
            <a:ext cx="111556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T1068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3767328" y="2651760"/>
            <a:ext cx="1115568" cy="868680"/>
          </a:xfrm>
          <a:prstGeom prst="rect">
            <a:avLst/>
          </a:prstGeom>
          <a:solidFill>
            <a:srgbClr val="1C2B3A"/>
          </a:solidFill>
          <a:ln w="12700">
            <a:solidFill>
              <a:srgbClr val="25354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767328" y="3611880"/>
            <a:ext cx="1115568" cy="868680"/>
          </a:xfrm>
          <a:prstGeom prst="rect">
            <a:avLst/>
          </a:prstGeom>
          <a:solidFill>
            <a:srgbClr val="1C2B3A"/>
          </a:solidFill>
          <a:ln w="12700">
            <a:solidFill>
              <a:srgbClr val="25354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767328" y="4572000"/>
            <a:ext cx="1115568" cy="868680"/>
          </a:xfrm>
          <a:prstGeom prst="rect">
            <a:avLst/>
          </a:prstGeom>
          <a:solidFill>
            <a:srgbClr val="1C2B3A"/>
          </a:solidFill>
          <a:ln w="12700">
            <a:solidFill>
              <a:srgbClr val="25354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937760" y="1005840"/>
            <a:ext cx="1115568" cy="594360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37760" y="1005840"/>
            <a:ext cx="11155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Cred.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937760" y="1691640"/>
            <a:ext cx="1115568" cy="868680"/>
          </a:xfrm>
          <a:prstGeom prst="rect">
            <a:avLst/>
          </a:prstGeom>
          <a:solidFill>
            <a:srgbClr val="C0392B"/>
          </a:solidFill>
          <a:ln w="12700">
            <a:solidFill>
              <a:srgbClr val="922B2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4937760" y="1691640"/>
            <a:ext cx="111556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T1003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Cred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Dumping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4937760" y="2651760"/>
            <a:ext cx="1115568" cy="868680"/>
          </a:xfrm>
          <a:prstGeom prst="rect">
            <a:avLst/>
          </a:prstGeom>
          <a:solidFill>
            <a:srgbClr val="1C2B3A"/>
          </a:solidFill>
          <a:ln w="12700">
            <a:solidFill>
              <a:srgbClr val="25354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937760" y="3611880"/>
            <a:ext cx="1115568" cy="868680"/>
          </a:xfrm>
          <a:prstGeom prst="rect">
            <a:avLst/>
          </a:prstGeom>
          <a:solidFill>
            <a:srgbClr val="1C2B3A"/>
          </a:solidFill>
          <a:ln w="12700">
            <a:solidFill>
              <a:srgbClr val="25354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937760" y="4572000"/>
            <a:ext cx="1115568" cy="868680"/>
          </a:xfrm>
          <a:prstGeom prst="rect">
            <a:avLst/>
          </a:prstGeom>
          <a:solidFill>
            <a:srgbClr val="1C2B3A"/>
          </a:solidFill>
          <a:ln w="12700">
            <a:solidFill>
              <a:srgbClr val="25354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108192" y="1005840"/>
            <a:ext cx="1115568" cy="59436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08192" y="1005840"/>
            <a:ext cx="11155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6108192" y="1691640"/>
            <a:ext cx="1115568" cy="868680"/>
          </a:xfrm>
          <a:prstGeom prst="rect">
            <a:avLst/>
          </a:prstGeom>
          <a:solidFill>
            <a:srgbClr val="C0392B"/>
          </a:solidFill>
          <a:ln w="12700">
            <a:solidFill>
              <a:srgbClr val="922B2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6108192" y="1691640"/>
            <a:ext cx="111556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T1018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 Disc.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6108192" y="2651760"/>
            <a:ext cx="1115568" cy="868680"/>
          </a:xfrm>
          <a:prstGeom prst="rect">
            <a:avLst/>
          </a:prstGeom>
          <a:solidFill>
            <a:srgbClr val="C0392B"/>
          </a:solidFill>
          <a:ln w="12700">
            <a:solidFill>
              <a:srgbClr val="922B2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6108192" y="2651760"/>
            <a:ext cx="111556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T1087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Discov.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6108192" y="3611880"/>
            <a:ext cx="1115568" cy="868680"/>
          </a:xfrm>
          <a:prstGeom prst="rect">
            <a:avLst/>
          </a:prstGeom>
          <a:solidFill>
            <a:srgbClr val="1C2B3A"/>
          </a:solidFill>
          <a:ln w="12700">
            <a:solidFill>
              <a:srgbClr val="25354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108192" y="4572000"/>
            <a:ext cx="1115568" cy="868680"/>
          </a:xfrm>
          <a:prstGeom prst="rect">
            <a:avLst/>
          </a:prstGeom>
          <a:solidFill>
            <a:srgbClr val="1C2B3A"/>
          </a:solidFill>
          <a:ln w="12700">
            <a:solidFill>
              <a:srgbClr val="25354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278624" y="1005840"/>
            <a:ext cx="1115568" cy="594360"/>
          </a:xfrm>
          <a:prstGeom prst="rect">
            <a:avLst/>
          </a:prstGeom>
          <a:solidFill>
            <a:srgbClr val="7D6608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278624" y="1005840"/>
            <a:ext cx="11155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Lateral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Movement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7278624" y="1691640"/>
            <a:ext cx="1115568" cy="868680"/>
          </a:xfrm>
          <a:prstGeom prst="rect">
            <a:avLst/>
          </a:prstGeom>
          <a:solidFill>
            <a:srgbClr val="C0392B"/>
          </a:solidFill>
          <a:ln w="12700">
            <a:solidFill>
              <a:srgbClr val="922B2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7278624" y="1691640"/>
            <a:ext cx="111556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T1021.001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RDP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7278624" y="2651760"/>
            <a:ext cx="1115568" cy="868680"/>
          </a:xfrm>
          <a:prstGeom prst="rect">
            <a:avLst/>
          </a:prstGeom>
          <a:solidFill>
            <a:srgbClr val="C0392B"/>
          </a:solidFill>
          <a:ln w="12700">
            <a:solidFill>
              <a:srgbClr val="922B2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7278624" y="2651760"/>
            <a:ext cx="111556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T1570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Lateral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Xfer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7278624" y="3611880"/>
            <a:ext cx="1115568" cy="868680"/>
          </a:xfrm>
          <a:prstGeom prst="rect">
            <a:avLst/>
          </a:prstGeom>
          <a:solidFill>
            <a:srgbClr val="1C2B3A"/>
          </a:solidFill>
          <a:ln w="12700">
            <a:solidFill>
              <a:srgbClr val="253545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278624" y="4572000"/>
            <a:ext cx="1115568" cy="868680"/>
          </a:xfrm>
          <a:prstGeom prst="rect">
            <a:avLst/>
          </a:prstGeom>
          <a:solidFill>
            <a:srgbClr val="1C2B3A"/>
          </a:solidFill>
          <a:ln w="12700">
            <a:solidFill>
              <a:srgbClr val="253545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449056" y="1005840"/>
            <a:ext cx="1115568" cy="594360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449056" y="1005840"/>
            <a:ext cx="11155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8449056" y="1691640"/>
            <a:ext cx="1115568" cy="868680"/>
          </a:xfrm>
          <a:prstGeom prst="rect">
            <a:avLst/>
          </a:prstGeom>
          <a:solidFill>
            <a:srgbClr val="C0392B"/>
          </a:solidFill>
          <a:ln w="12700">
            <a:solidFill>
              <a:srgbClr val="922B2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4" name="Text 62"/>
          <p:cNvSpPr/>
          <p:nvPr/>
        </p:nvSpPr>
        <p:spPr>
          <a:xfrm>
            <a:off x="8449056" y="1691640"/>
            <a:ext cx="111556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T1119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Collect.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8449056" y="2651760"/>
            <a:ext cx="1115568" cy="868680"/>
          </a:xfrm>
          <a:prstGeom prst="rect">
            <a:avLst/>
          </a:prstGeom>
          <a:solidFill>
            <a:srgbClr val="C0392B"/>
          </a:solidFill>
          <a:ln w="12700">
            <a:solidFill>
              <a:srgbClr val="922B2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6" name="Text 64"/>
          <p:cNvSpPr/>
          <p:nvPr/>
        </p:nvSpPr>
        <p:spPr>
          <a:xfrm>
            <a:off x="8449056" y="2651760"/>
            <a:ext cx="111556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T1005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from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Sys.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8449056" y="3611880"/>
            <a:ext cx="1115568" cy="868680"/>
          </a:xfrm>
          <a:prstGeom prst="rect">
            <a:avLst/>
          </a:prstGeom>
          <a:solidFill>
            <a:srgbClr val="1C2B3A"/>
          </a:solidFill>
          <a:ln w="12700">
            <a:solidFill>
              <a:srgbClr val="253545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449056" y="4572000"/>
            <a:ext cx="1115568" cy="868680"/>
          </a:xfrm>
          <a:prstGeom prst="rect">
            <a:avLst/>
          </a:prstGeom>
          <a:solidFill>
            <a:srgbClr val="1C2B3A"/>
          </a:solidFill>
          <a:ln w="12700">
            <a:solidFill>
              <a:srgbClr val="253545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9619488" y="1005840"/>
            <a:ext cx="1115568" cy="59436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9619488" y="1005840"/>
            <a:ext cx="11155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9619488" y="1691640"/>
            <a:ext cx="1115568" cy="868680"/>
          </a:xfrm>
          <a:prstGeom prst="rect">
            <a:avLst/>
          </a:prstGeom>
          <a:solidFill>
            <a:srgbClr val="C0392B"/>
          </a:solidFill>
          <a:ln w="12700">
            <a:solidFill>
              <a:srgbClr val="922B2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2" name="Text 70"/>
          <p:cNvSpPr/>
          <p:nvPr/>
        </p:nvSpPr>
        <p:spPr>
          <a:xfrm>
            <a:off x="9619488" y="1691640"/>
            <a:ext cx="111556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T1572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Tunneling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9619488" y="2651760"/>
            <a:ext cx="1115568" cy="868680"/>
          </a:xfrm>
          <a:prstGeom prst="rect">
            <a:avLst/>
          </a:prstGeom>
          <a:solidFill>
            <a:srgbClr val="1C2B3A"/>
          </a:solidFill>
          <a:ln w="12700">
            <a:solidFill>
              <a:srgbClr val="253545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9619488" y="3611880"/>
            <a:ext cx="1115568" cy="868680"/>
          </a:xfrm>
          <a:prstGeom prst="rect">
            <a:avLst/>
          </a:prstGeom>
          <a:solidFill>
            <a:srgbClr val="1C2B3A"/>
          </a:solidFill>
          <a:ln w="12700">
            <a:solidFill>
              <a:srgbClr val="253545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9619488" y="4572000"/>
            <a:ext cx="1115568" cy="868680"/>
          </a:xfrm>
          <a:prstGeom prst="rect">
            <a:avLst/>
          </a:prstGeom>
          <a:solidFill>
            <a:srgbClr val="1C2B3A"/>
          </a:solidFill>
          <a:ln w="12700">
            <a:solidFill>
              <a:srgbClr val="253545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0789920" y="1005840"/>
            <a:ext cx="1115568" cy="5943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0789920" y="1005840"/>
            <a:ext cx="11155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Exfiltration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10789920" y="1691640"/>
            <a:ext cx="1115568" cy="868680"/>
          </a:xfrm>
          <a:prstGeom prst="rect">
            <a:avLst/>
          </a:prstGeom>
          <a:solidFill>
            <a:srgbClr val="C0392B"/>
          </a:solidFill>
          <a:ln w="12700">
            <a:solidFill>
              <a:srgbClr val="922B2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9" name="Text 77"/>
          <p:cNvSpPr/>
          <p:nvPr/>
        </p:nvSpPr>
        <p:spPr>
          <a:xfrm>
            <a:off x="10789920" y="1691640"/>
            <a:ext cx="111556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T1048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Exfil Alt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10789920" y="2651760"/>
            <a:ext cx="1115568" cy="868680"/>
          </a:xfrm>
          <a:prstGeom prst="rect">
            <a:avLst/>
          </a:prstGeom>
          <a:solidFill>
            <a:srgbClr val="1C2B3A"/>
          </a:solidFill>
          <a:ln w="12700">
            <a:solidFill>
              <a:srgbClr val="253545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0789920" y="3611880"/>
            <a:ext cx="1115568" cy="868680"/>
          </a:xfrm>
          <a:prstGeom prst="rect">
            <a:avLst/>
          </a:prstGeom>
          <a:solidFill>
            <a:srgbClr val="1C2B3A"/>
          </a:solidFill>
          <a:ln w="12700">
            <a:solidFill>
              <a:srgbClr val="253545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0789920" y="4572000"/>
            <a:ext cx="1115568" cy="868680"/>
          </a:xfrm>
          <a:prstGeom prst="rect">
            <a:avLst/>
          </a:prstGeom>
          <a:solidFill>
            <a:srgbClr val="1C2B3A"/>
          </a:solidFill>
          <a:ln w="12700">
            <a:solidFill>
              <a:srgbClr val="253545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256032" y="6400800"/>
            <a:ext cx="274320" cy="1645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566928" y="6400800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Confirmed FIN6 TTP</a:t>
            </a:r>
            <a:endParaRPr lang="en-US" sz="750" dirty="0"/>
          </a:p>
        </p:txBody>
      </p:sp>
      <p:sp>
        <p:nvSpPr>
          <p:cNvPr id="85" name="Shape 83"/>
          <p:cNvSpPr/>
          <p:nvPr/>
        </p:nvSpPr>
        <p:spPr>
          <a:xfrm>
            <a:off x="2926080" y="6400800"/>
            <a:ext cx="274320" cy="164592"/>
          </a:xfrm>
          <a:prstGeom prst="rect">
            <a:avLst/>
          </a:prstGeom>
          <a:solidFill>
            <a:srgbClr val="1C2B3A"/>
          </a:solidFill>
          <a:ln w="12700">
            <a:solidFill>
              <a:srgbClr val="253545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3236976" y="6400800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Not confirmed / not applicable</a:t>
            </a:r>
            <a:endParaRPr lang="en-US" sz="750" dirty="0"/>
          </a:p>
        </p:txBody>
      </p:sp>
      <p:sp>
        <p:nvSpPr>
          <p:cNvPr id="87" name="Shape 85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Lobster CTI Report | Christian Kodu | April 2026 |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|  DEFENCE RECOMMENDATIONS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502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Prioritised by risk level · Mapped to identified attack vectors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56032" y="1051560"/>
            <a:ext cx="3749040" cy="5349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051560"/>
            <a:ext cx="3749040" cy="6583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1097280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56032" y="142646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93192" y="1783080"/>
            <a:ext cx="34747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 ssladmin@redlobster.com + GoDaddy credentials. Enable MFA on GoDaddy.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POS network segmentation — block outbound FTP from POS terminals.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EDR on all POS systems (CrowdStrike / SentinelOne).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PowerShell Script Block Logging via GPO. Alert on encoded PS.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233672" y="1051560"/>
            <a:ext cx="3749040" cy="5349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33672" y="1051560"/>
            <a:ext cx="3749040" cy="65836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33672" y="1097280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233672" y="142646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30 Days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370832" y="1783080"/>
            <a:ext cx="34747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all outstanding Windows patches — CVEs 2013-3660, 2011-2005, 2010-4398.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SIEM (Wazuh/ManageEngine) with rules: ntds.dit access, AdFind, Plink, FTP from internal hosts.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phishing simulation targeting IT + Ops staff identified in OSINT.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online ordering platform CSP + sub-resource integrity (Magecart risk).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MFA on all remote access (VPN, RDP, email).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211312" y="1051560"/>
            <a:ext cx="3749040" cy="5349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AC0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11312" y="1051560"/>
            <a:ext cx="3749040" cy="658368"/>
          </a:xfrm>
          <a:prstGeom prst="rect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11312" y="1097280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11312" y="142646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90 Days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348472" y="1783080"/>
            <a:ext cx="34747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awareness training — phishing recognition + POS hygiene for all staff.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PCI-DSS P2PE — removes card data from POS memory entirely.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all third-party vendor access — require MFA + least-privilege.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+ test Incident Response plan.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 redlobster.ca in lookalike domain + certificate transparency monitoring.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56032" y="6400800"/>
            <a:ext cx="11649456" cy="182880"/>
          </a:xfrm>
          <a:prstGeom prst="rect">
            <a:avLst/>
          </a:prstGeom>
          <a:solidFill>
            <a:srgbClr val="EBF5FB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6409944"/>
            <a:ext cx="11521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PCI-DSS NOTE: Red Lobster's Chapter 11 context increases risk of compliance lapses. PCI-DSS breach + insolvency = personal liability risk for executives. Immediate compliance verification is essential.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Lobster CTI Report | Christian Kodu | April 2026 |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394960"/>
            <a:ext cx="12161520" cy="146304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SUMMARY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73152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FIN6 is a credible, active threat
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Red Lobster Canada.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2514600"/>
            <a:ext cx="2651760" cy="1463040"/>
          </a:xfrm>
          <a:prstGeom prst="rect">
            <a:avLst/>
          </a:prstGeom>
          <a:solidFill>
            <a:srgbClr val="1C2B3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60604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20M+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33375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 exposed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major FIN6 breach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00400" y="2514600"/>
            <a:ext cx="2651760" cy="1463040"/>
          </a:xfrm>
          <a:prstGeom prst="rect">
            <a:avLst/>
          </a:prstGeom>
          <a:solidFill>
            <a:srgbClr val="1C2B3A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260604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$400M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200400" y="33375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underground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value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035040" y="2514600"/>
            <a:ext cx="2651760" cy="1463040"/>
          </a:xfrm>
          <a:prstGeom prst="rect">
            <a:avLst/>
          </a:prstGeom>
          <a:solidFill>
            <a:srgbClr val="1C2B3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0" y="260604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~2,000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035040" y="33375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systems compromised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campaign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869680" y="2514600"/>
            <a:ext cx="2651760" cy="1463040"/>
          </a:xfrm>
          <a:prstGeom prst="rect">
            <a:avLst/>
          </a:prstGeom>
          <a:solidFill>
            <a:srgbClr val="1C2B3A"/>
          </a:solidFill>
          <a:ln w="12700">
            <a:solidFill>
              <a:srgbClr val="D4AC0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69680" y="260604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&lt;6 mo.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8869680" y="33375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from breach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card shop listing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65760" y="4114800"/>
            <a:ext cx="11430000" cy="1143000"/>
          </a:xfrm>
          <a:prstGeom prst="rect">
            <a:avLst/>
          </a:prstGeom>
          <a:solidFill>
            <a:srgbClr val="1C2B3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4114800"/>
            <a:ext cx="73152" cy="11430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206240"/>
            <a:ext cx="11064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convergence of an exposed administrative email, a GoDaddy-managed domain, a lean post-bankruptcy team, and FIN6's proven targeting of restaurant POS systems creates a high-probability threat scenario. MFA, EDR on POS systems, and network segmentation are the three controls with the highest return on protection investment for this organisation.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65760" y="55778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Christian Kodu  |  Cyber Security Analyst  |  April 2026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65760" y="5943600"/>
            <a:ext cx="1143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MITRE ATT&amp;CK · FireEye FIN6 Report · WHOIS · LinkedIn OSINT · US Bankruptcy Court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365760" y="6217920"/>
            <a:ext cx="1143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For Authorised Use Only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 Lobster CTI Report — FIN6 Threat Assessment</dc:title>
  <dc:subject>PptxGenJS Presentation</dc:subject>
  <dc:creator>Christian Kodu</dc:creator>
  <cp:lastModifiedBy>Christian Kodu</cp:lastModifiedBy>
  <cp:revision>1</cp:revision>
  <dcterms:created xsi:type="dcterms:W3CDTF">2026-04-08T03:27:15Z</dcterms:created>
  <dcterms:modified xsi:type="dcterms:W3CDTF">2026-04-08T03:27:15Z</dcterms:modified>
</cp:coreProperties>
</file>